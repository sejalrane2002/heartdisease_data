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00" r:id="rId1"/>
  </p:sldMasterIdLst>
  <p:notesMasterIdLst>
    <p:notesMasterId r:id="rId8"/>
  </p:notesMasterIdLst>
  <p:sldIdLst>
    <p:sldId id="256" r:id="rId2"/>
    <p:sldId id="257" r:id="rId3"/>
    <p:sldId id="263" r:id="rId4"/>
    <p:sldId id="259" r:id="rId5"/>
    <p:sldId id="264" r:id="rId6"/>
    <p:sldId id="262" r:id="rId7"/>
  </p:sldIdLst>
  <p:sldSz cx="12192000" cy="6858000"/>
  <p:notesSz cx="68580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Wingdings 3" panose="05040102010807070707" pitchFamily="18" charset="2"/>
      <p:regular r:id="rId13"/>
    </p:embeddedFont>
    <p:embeddedFont>
      <p:font typeface="Arial Black" panose="020B0A04020102020204" pitchFamily="34" charset="0"/>
      <p:bold r:id="rId14"/>
    </p:embeddedFont>
    <p:embeddedFont>
      <p:font typeface="Century Gothic" panose="020B0502020202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CWqo/5NnyDiGL71q6AY7+rRJa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7/5/2024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697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414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048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0547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2961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61066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9557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0813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05496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87733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080463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297852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4094557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37186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3077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26031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chemeClr val="accent2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1167492" y="2653167"/>
            <a:ext cx="9779183" cy="3436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dt" idx="10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sldNum" idx="12"/>
          </p:nvPr>
        </p:nvSpPr>
        <p:spPr>
          <a:xfrm>
            <a:off x="10206318" y="6356350"/>
            <a:ext cx="160468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31399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itle and Content" type="obj">
  <p:cSld name="2 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/>
          </p:nvPr>
        </p:nvSpPr>
        <p:spPr>
          <a:xfrm>
            <a:off x="1167492" y="381000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1"/>
          </p:nvPr>
        </p:nvSpPr>
        <p:spPr>
          <a:xfrm>
            <a:off x="1167493" y="2528203"/>
            <a:ext cx="4663440" cy="28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dt" idx="10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6283235" y="2528203"/>
            <a:ext cx="4663440" cy="2828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3"/>
          </p:nvPr>
        </p:nvSpPr>
        <p:spPr>
          <a:xfrm>
            <a:off x="1167493" y="2005689"/>
            <a:ext cx="4663440" cy="5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4"/>
          </p:nvPr>
        </p:nvSpPr>
        <p:spPr>
          <a:xfrm>
            <a:off x="6283235" y="2005689"/>
            <a:ext cx="4663440" cy="5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07161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 Slide">
  <p:cSld name="End Slide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ctrTitle"/>
          </p:nvPr>
        </p:nvSpPr>
        <p:spPr>
          <a:xfrm>
            <a:off x="1167494" y="1122363"/>
            <a:ext cx="6220278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ubTitle" idx="1"/>
          </p:nvPr>
        </p:nvSpPr>
        <p:spPr>
          <a:xfrm>
            <a:off x="1167493" y="3602038"/>
            <a:ext cx="6220277" cy="2247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2055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7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  <p:sldLayoutId id="2147483812" r:id="rId12"/>
    <p:sldLayoutId id="2147483813" r:id="rId13"/>
    <p:sldLayoutId id="2147483814" r:id="rId14"/>
    <p:sldLayoutId id="2147483815" r:id="rId15"/>
    <p:sldLayoutId id="2147483816" r:id="rId16"/>
    <p:sldLayoutId id="2147483817" r:id="rId17"/>
    <p:sldLayoutId id="2147483818" r:id="rId18"/>
    <p:sldLayoutId id="2147483819" r:id="rId1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"/>
          <p:cNvSpPr txBox="1">
            <a:spLocks noGrp="1"/>
          </p:cNvSpPr>
          <p:nvPr>
            <p:ph type="ctrTitle"/>
          </p:nvPr>
        </p:nvSpPr>
        <p:spPr>
          <a:xfrm>
            <a:off x="1167493" y="1122363"/>
            <a:ext cx="788882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b="1" dirty="0" smtClean="0">
                <a:latin typeface="Arial Black" panose="020B0A04020102020204" pitchFamily="34" charset="0"/>
              </a:rPr>
              <a:t>Heart disease data</a:t>
            </a:r>
            <a:endParaRPr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197" name="Google Shape;197;p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Heart disease refers to any problem affecting the heart, such as coronary artery disease, arrhythmia, and heart failure</a:t>
            </a:r>
            <a:r>
              <a:rPr lang="en-US" dirty="0" smtClean="0"/>
              <a:t>.</a:t>
            </a:r>
          </a:p>
          <a:p>
            <a:pPr marL="0" lvl="0" indent="0">
              <a:spcBef>
                <a:spcPts val="0"/>
              </a:spcBef>
              <a:buSzPts val="1800"/>
            </a:pPr>
            <a:endParaRPr lang="en-US" sz="2000" dirty="0" smtClean="0"/>
          </a:p>
          <a:p>
            <a:pPr marL="0" lvl="0" indent="0">
              <a:spcBef>
                <a:spcPts val="0"/>
              </a:spcBef>
              <a:buSzPts val="1800"/>
            </a:pPr>
            <a:endParaRPr dirty="0"/>
          </a:p>
        </p:txBody>
      </p:sp>
      <p:sp>
        <p:nvSpPr>
          <p:cNvPr id="198" name="Google Shape;198;p2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1/1/2023</a:t>
            </a:r>
            <a:endParaRPr/>
          </a:p>
        </p:txBody>
      </p:sp>
      <p:sp>
        <p:nvSpPr>
          <p:cNvPr id="199" name="Google Shape;199;p2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200" name="Google Shape;200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7492" y="124691"/>
            <a:ext cx="9779183" cy="1233054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Details of Data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7492" y="1939635"/>
            <a:ext cx="9779183" cy="5902037"/>
          </a:xfrm>
        </p:spPr>
        <p:txBody>
          <a:bodyPr/>
          <a:lstStyle/>
          <a:p>
            <a:r>
              <a:rPr lang="en-US" sz="1600" dirty="0"/>
              <a:t>The dataset has no missing values and contains a variety of numerical attributes. Here are some key observations from the summary statistics</a:t>
            </a:r>
            <a:r>
              <a:rPr lang="en-US" sz="1600" dirty="0" smtClean="0"/>
              <a:t>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The </a:t>
            </a:r>
            <a:r>
              <a:rPr lang="en-US" sz="1600" dirty="0"/>
              <a:t>average age of the patients is around 54 years</a:t>
            </a:r>
            <a:r>
              <a:rPr lang="en-US" sz="1600" dirty="0" smtClean="0"/>
              <a:t>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The </a:t>
            </a:r>
            <a:r>
              <a:rPr lang="en-US" sz="1600" dirty="0"/>
              <a:t>majority of the patients are male (about 69.6</a:t>
            </a:r>
            <a:r>
              <a:rPr lang="en-US" sz="1600" dirty="0" smtClean="0"/>
              <a:t>%).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The </a:t>
            </a:r>
            <a:r>
              <a:rPr lang="en-US" sz="1600" dirty="0"/>
              <a:t>dataset contains various attributes that measure different aspects of heart health, such as chest pain type (</a:t>
            </a:r>
            <a:r>
              <a:rPr lang="en-US" sz="1600" dirty="0" err="1"/>
              <a:t>cp</a:t>
            </a:r>
            <a:r>
              <a:rPr lang="en-US" sz="1600" dirty="0"/>
              <a:t>), resting blood pressure (</a:t>
            </a:r>
            <a:r>
              <a:rPr lang="en-US" sz="1600" dirty="0" err="1"/>
              <a:t>trestbps</a:t>
            </a:r>
            <a:r>
              <a:rPr lang="en-US" sz="1600" dirty="0"/>
              <a:t>), cholesterol levels (</a:t>
            </a:r>
            <a:r>
              <a:rPr lang="en-US" sz="1600" dirty="0" err="1"/>
              <a:t>chol</a:t>
            </a:r>
            <a:r>
              <a:rPr lang="en-US" sz="1600" dirty="0"/>
              <a:t>), maximum heart rate achieved (</a:t>
            </a:r>
            <a:r>
              <a:rPr lang="en-US" sz="1600" dirty="0" err="1"/>
              <a:t>thalach</a:t>
            </a:r>
            <a:r>
              <a:rPr lang="en-US" sz="1600" dirty="0"/>
              <a:t>), and others</a:t>
            </a:r>
            <a:r>
              <a:rPr lang="en-US" sz="1600" dirty="0" smtClean="0"/>
              <a:t>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sz="1600" dirty="0" smtClean="0"/>
              <a:t>The </a:t>
            </a:r>
            <a:r>
              <a:rPr lang="en-US" sz="1600" dirty="0"/>
              <a:t>target variable indicates whether a patient has heart disease (1 = yes, 0 = no), with roughly equal distribution.</a:t>
            </a:r>
            <a:endParaRPr lang="en-IN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64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"/>
          <p:cNvSpPr txBox="1">
            <a:spLocks noGrp="1"/>
          </p:cNvSpPr>
          <p:nvPr>
            <p:ph type="title"/>
          </p:nvPr>
        </p:nvSpPr>
        <p:spPr>
          <a:xfrm>
            <a:off x="690696" y="237896"/>
            <a:ext cx="9779183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Main KPIs</a:t>
            </a:r>
            <a:endParaRPr/>
          </a:p>
        </p:txBody>
      </p:sp>
      <p:sp>
        <p:nvSpPr>
          <p:cNvPr id="229" name="Google Shape;229;p4"/>
          <p:cNvSpPr txBox="1">
            <a:spLocks noGrp="1"/>
          </p:cNvSpPr>
          <p:nvPr>
            <p:ph type="body" idx="1"/>
          </p:nvPr>
        </p:nvSpPr>
        <p:spPr>
          <a:xfrm rot="-10422101">
            <a:off x="2915919" y="6734434"/>
            <a:ext cx="8766047" cy="216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25" name="Google Shape;225;p4"/>
          <p:cNvSpPr txBox="1">
            <a:spLocks noGrp="1"/>
          </p:cNvSpPr>
          <p:nvPr>
            <p:ph type="dt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1/1/2023</a:t>
            </a:r>
            <a:endParaRPr/>
          </a:p>
        </p:txBody>
      </p:sp>
      <p:sp>
        <p:nvSpPr>
          <p:cNvPr id="226" name="Google Shape;226;p4"/>
          <p:cNvSpPr txBox="1">
            <a:spLocks noGrp="1"/>
          </p:cNvSpPr>
          <p:nvPr>
            <p:ph type="ft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227" name="Google Shape;227;p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28" name="Google Shape;228;p4"/>
          <p:cNvSpPr txBox="1">
            <a:spLocks noGrp="1"/>
          </p:cNvSpPr>
          <p:nvPr>
            <p:ph type="body" idx="2"/>
          </p:nvPr>
        </p:nvSpPr>
        <p:spPr>
          <a:xfrm>
            <a:off x="7993392" y="3986784"/>
            <a:ext cx="3803666" cy="216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3"/>
          </p:nvPr>
        </p:nvSpPr>
        <p:spPr bwMode="auto">
          <a:xfrm>
            <a:off x="830263" y="2440564"/>
            <a:ext cx="8410719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Age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 distribution of patients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b="0" baseline="0" dirty="0" smtClean="0">
                <a:solidFill>
                  <a:schemeClr val="accent2"/>
                </a:solidFill>
                <a:latin typeface="Arial" panose="020B0604020202020204" pitchFamily="34" charset="0"/>
              </a:rPr>
              <a:t>Gender</a:t>
            </a:r>
            <a:r>
              <a:rPr lang="en-US" altLang="en-US" sz="2000" b="0" dirty="0" smtClean="0">
                <a:solidFill>
                  <a:schemeClr val="accent2"/>
                </a:solidFill>
                <a:latin typeface="Arial" panose="020B0604020202020204" pitchFamily="34" charset="0"/>
              </a:rPr>
              <a:t> distribution of patients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Arial" panose="020B0604020202020204" pitchFamily="34" charset="0"/>
              </a:rPr>
              <a:t>Heart disease diagnosis 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Dashboard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4945" y="1764659"/>
            <a:ext cx="8589819" cy="474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1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169</Words>
  <Application>Microsoft Office PowerPoint</Application>
  <PresentationFormat>Widescreen</PresentationFormat>
  <Paragraphs>26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Calibri</vt:lpstr>
      <vt:lpstr>Wingdings 3</vt:lpstr>
      <vt:lpstr>Arial Black</vt:lpstr>
      <vt:lpstr>Century Gothic</vt:lpstr>
      <vt:lpstr>Arial</vt:lpstr>
      <vt:lpstr>Wisp</vt:lpstr>
      <vt:lpstr>Heart disease data</vt:lpstr>
      <vt:lpstr>Introduction</vt:lpstr>
      <vt:lpstr>Details of Data</vt:lpstr>
      <vt:lpstr>Main KPIs</vt:lpstr>
      <vt:lpstr>Dashboard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Data</dc:title>
  <dc:creator>NAVEEN SRINIVASAN</dc:creator>
  <cp:lastModifiedBy>Sejal</cp:lastModifiedBy>
  <cp:revision>6</cp:revision>
  <dcterms:created xsi:type="dcterms:W3CDTF">2022-12-29T06:36:15Z</dcterms:created>
  <dcterms:modified xsi:type="dcterms:W3CDTF">2024-07-05T15:23:13Z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